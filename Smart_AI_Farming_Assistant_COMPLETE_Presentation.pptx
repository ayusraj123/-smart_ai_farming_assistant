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731520"/>
            <a:ext cx="3108960" cy="3108960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480560"/>
            <a:ext cx="2103120" cy="2103120"/>
          </a:xfrm>
          <a:prstGeom prst="ellipse">
            <a:avLst/>
          </a:prstGeom>
          <a:solidFill>
            <a:srgbClr val="DFA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5303520"/>
            <a:ext cx="1097280" cy="1097280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67665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SMART AI
FARMING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6035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DF2E5"/>
                </a:solidFill>
                <a:latin typeface="Aptos"/>
              </a:rPr>
              <a:t>AI-powered crop health monitoring &amp; plant disease diagnosis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3703320"/>
            <a:ext cx="5440680" cy="347472"/>
          </a:xfrm>
          <a:prstGeom prst="roundRect">
            <a:avLst/>
          </a:prstGeom>
          <a:solidFill>
            <a:srgbClr val="E8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730752"/>
            <a:ext cx="5440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14C34"/>
                </a:solidFill>
                <a:latin typeface="Aptos"/>
              </a:rPr>
              <a:t>MERN-style web architecture + FastAPI + PyTorch + 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5720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Project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9560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E1D3"/>
                </a:solidFill>
                <a:latin typeface="Aptos"/>
              </a:rPr>
              <a:t>Smart Agriculture • Computer Vision • Decision Support</a:t>
            </a:r>
          </a:p>
        </p:txBody>
      </p:sp>
      <p:pic>
        <p:nvPicPr>
          <p:cNvPr id="12" name="Picture 11" descr="_ppt_crop_33118428905278682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143000"/>
            <a:ext cx="2880360" cy="434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49640" y="56235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Healthy crop screening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4C34"/>
                </a:solidFill>
                <a:latin typeface="Aptos"/>
              </a:rP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961"/>
                </a:solidFill>
                <a:latin typeface="Aptos"/>
              </a:rPr>
              <a:t>Why smart crop diagnosis is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DFA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1" y="1673351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691639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673351"/>
            <a:ext cx="253288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Manual inspection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93976"/>
            <a:ext cx="3026664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Disease identification depends on visual observation and agricultural expertise. This can be slow when many plants must be checked.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087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35424" y="1673351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691639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4064" y="1673351"/>
            <a:ext cx="253288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Delayed intervention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93976"/>
            <a:ext cx="3026664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Late recognition of crop stress or disease can reduce the opportunity for timely management.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5087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66175" y="1673351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5" y="1691639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4815" y="1673351"/>
            <a:ext cx="25328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Limited decision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093976"/>
            <a:ext cx="3026664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Farmers need a simple digital workflow that combines image-based diagnosis with useful recommendations.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7947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4C34"/>
                </a:solidFill>
                <a:latin typeface="Aptos"/>
              </a:rPr>
              <a:t>Project response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4343400"/>
            <a:ext cx="502920" cy="502920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370832"/>
            <a:ext cx="50292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7592" y="431596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31F"/>
                </a:solidFill>
                <a:latin typeface="Aptos"/>
              </a:rPr>
              <a:t>Upload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4645152"/>
            <a:ext cx="187451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Farmer uploads a leaf image.</a:t>
            </a:r>
          </a:p>
        </p:txBody>
      </p:sp>
      <p:sp>
        <p:nvSpPr>
          <p:cNvPr id="26" name="Oval 25"/>
          <p:cNvSpPr/>
          <p:nvPr/>
        </p:nvSpPr>
        <p:spPr>
          <a:xfrm>
            <a:off x="3502152" y="4343400"/>
            <a:ext cx="502920" cy="502920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2152" y="4370832"/>
            <a:ext cx="50292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23944" y="431596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31F"/>
                </a:solidFill>
                <a:latin typeface="Aptos"/>
              </a:rPr>
              <a:t>Analyze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23944" y="4645152"/>
            <a:ext cx="187451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PyTorch CNN processes the image.</a:t>
            </a:r>
          </a:p>
        </p:txBody>
      </p:sp>
      <p:sp>
        <p:nvSpPr>
          <p:cNvPr id="30" name="Oval 29"/>
          <p:cNvSpPr/>
          <p:nvPr/>
        </p:nvSpPr>
        <p:spPr>
          <a:xfrm>
            <a:off x="6318504" y="4343400"/>
            <a:ext cx="502920" cy="502920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18504" y="4370832"/>
            <a:ext cx="50292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0296" y="431596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31F"/>
                </a:solidFill>
                <a:latin typeface="Aptos"/>
              </a:rPr>
              <a:t>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0296" y="4645152"/>
            <a:ext cx="187451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System returns class, confidence and status.</a:t>
            </a:r>
          </a:p>
        </p:txBody>
      </p:sp>
      <p:sp>
        <p:nvSpPr>
          <p:cNvPr id="34" name="Oval 33"/>
          <p:cNvSpPr/>
          <p:nvPr/>
        </p:nvSpPr>
        <p:spPr>
          <a:xfrm>
            <a:off x="9134856" y="4343400"/>
            <a:ext cx="502920" cy="502920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34856" y="4370832"/>
            <a:ext cx="50292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6648" y="431596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31F"/>
                </a:solidFill>
                <a:latin typeface="Aptos"/>
              </a:rPr>
              <a:t>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8" y="4645152"/>
            <a:ext cx="187451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Recommendation supports the next field check.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A6961"/>
                </a:solidFill>
                <a:latin typeface="Aptos"/>
              </a:rPr>
              <a:t>SMART AI FARMING ASSISTANT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A6961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4C34"/>
                </a:solidFill>
                <a:latin typeface="Aptos"/>
              </a:rPr>
              <a:t>2.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961"/>
                </a:solidFill>
                <a:latin typeface="Aptos"/>
              </a:rPr>
              <a:t>Core goals of the Smart AI Farming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DFA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1" y="1581912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600200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581912"/>
            <a:ext cx="253288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Crop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02536"/>
            <a:ext cx="3026664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Maintain digital crop records and support routine monitoring.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99432" y="1581912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600200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072" y="1581912"/>
            <a:ext cx="253288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AI diagnosis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002536"/>
            <a:ext cx="3026664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Classify supported PlantVillage disease/health classes from leaf images.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4173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94192" y="1581912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600200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1581912"/>
            <a:ext cx="25328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Actionable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002536"/>
            <a:ext cx="3026664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Show predicted class, confidence, status and recommendation.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5661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1" y="3730752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749040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🌦️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3730752"/>
            <a:ext cx="253288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Farm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4151376"/>
            <a:ext cx="3026664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Provide weather, recommendations and assistant features around the diagnosis workflow.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5661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99432" y="3730752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3749040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48072" y="3730752"/>
            <a:ext cx="253288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Secure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8" y="4151376"/>
            <a:ext cx="3026664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Provide authentication and user-linked farm data.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5661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94192" y="3730752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3749040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42832" y="3730752"/>
            <a:ext cx="25328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Deployable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4151376"/>
            <a:ext cx="3026664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Run the complete application with Docker Compose and PostgreSQL.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A6961"/>
                </a:solidFill>
                <a:latin typeface="Aptos"/>
              </a:rPr>
              <a:t>SMART AI FARMING ASSISTANT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A6961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4C34"/>
                </a:solidFill>
                <a:latin typeface="Aptos"/>
              </a:rPr>
              <a:t>3. Proposed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961"/>
                </a:solidFill>
                <a:latin typeface="Aptos"/>
              </a:rPr>
              <a:t>End-to-end flow from farmer input to AI-assisted decision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DFA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1874519"/>
            <a:ext cx="685800" cy="685800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01951"/>
            <a:ext cx="68580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24912"/>
            <a:ext cx="1051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9231F"/>
                </a:solidFill>
                <a:latin typeface="Aptos"/>
              </a:rPr>
              <a:t>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108960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A6961"/>
                </a:solidFill>
                <a:latin typeface="Aptos"/>
              </a:rPr>
              <a:t>Authentication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07008" y="2212848"/>
            <a:ext cx="1078992" cy="0"/>
          </a:xfrm>
          <a:prstGeom prst="line">
            <a:avLst/>
          </a:prstGeom>
          <a:ln w="25400">
            <a:solidFill>
              <a:srgbClr val="DFA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441448" y="1874519"/>
            <a:ext cx="685800" cy="685800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1448" y="1901951"/>
            <a:ext cx="68580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8" y="2724912"/>
            <a:ext cx="1051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9231F"/>
                </a:solidFill>
                <a:latin typeface="Aptos"/>
              </a:rPr>
              <a:t>Crop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3108960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A6961"/>
                </a:solidFill>
                <a:latin typeface="Aptos"/>
              </a:rPr>
              <a:t>Select / manage crop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45536" y="2212848"/>
            <a:ext cx="1078992" cy="0"/>
          </a:xfrm>
          <a:prstGeom prst="line">
            <a:avLst/>
          </a:prstGeom>
          <a:ln w="25400">
            <a:solidFill>
              <a:srgbClr val="DFA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379976" y="1874519"/>
            <a:ext cx="685800" cy="685800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9976" y="1901951"/>
            <a:ext cx="68580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2816" y="2724912"/>
            <a:ext cx="1051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9231F"/>
                </a:solidFill>
                <a:latin typeface="Aptos"/>
              </a:rPr>
              <a:t>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9936" y="3108960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A6961"/>
                </a:solidFill>
                <a:latin typeface="Aptos"/>
              </a:rPr>
              <a:t>Upload leaf image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84064" y="2212848"/>
            <a:ext cx="1078992" cy="0"/>
          </a:xfrm>
          <a:prstGeom prst="line">
            <a:avLst/>
          </a:prstGeom>
          <a:ln w="25400">
            <a:solidFill>
              <a:srgbClr val="DFA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318504" y="1874519"/>
            <a:ext cx="685800" cy="685800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1901951"/>
            <a:ext cx="68580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2724912"/>
            <a:ext cx="1051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9231F"/>
                </a:solidFill>
                <a:latin typeface="Aptos"/>
              </a:rPr>
              <a:t>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8464" y="3108960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A6961"/>
                </a:solidFill>
                <a:latin typeface="Aptos"/>
              </a:rPr>
              <a:t>CNN inference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22592" y="2212848"/>
            <a:ext cx="1078991" cy="0"/>
          </a:xfrm>
          <a:prstGeom prst="line">
            <a:avLst/>
          </a:prstGeom>
          <a:ln w="25400">
            <a:solidFill>
              <a:srgbClr val="DFA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257032" y="1874519"/>
            <a:ext cx="685800" cy="685800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2" y="1901951"/>
            <a:ext cx="68580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2" y="2724912"/>
            <a:ext cx="1051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9231F"/>
                </a:solidFill>
                <a:latin typeface="Aptos"/>
              </a:rPr>
              <a:t>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6992" y="3108960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A6961"/>
                </a:solidFill>
                <a:latin typeface="Aptos"/>
              </a:rPr>
              <a:t>Class + confidence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961120" y="2212848"/>
            <a:ext cx="1078992" cy="0"/>
          </a:xfrm>
          <a:prstGeom prst="line">
            <a:avLst/>
          </a:prstGeom>
          <a:ln w="25400">
            <a:solidFill>
              <a:srgbClr val="DFA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0195560" y="1874519"/>
            <a:ext cx="685800" cy="685800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95560" y="1901951"/>
            <a:ext cx="68580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724912"/>
            <a:ext cx="1051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9231F"/>
                </a:solidFill>
                <a:latin typeface="Aptos"/>
              </a:rPr>
              <a:t>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3108960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A6961"/>
                </a:solidFill>
                <a:latin typeface="Aptos"/>
              </a:rPr>
              <a:t>Recommendation / follow-up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4251960"/>
            <a:ext cx="10561320" cy="1051560"/>
          </a:xfrm>
          <a:prstGeom prst="roundRect">
            <a:avLst/>
          </a:prstGeom>
          <a:solidFill>
            <a:srgbClr val="DF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446227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4C34"/>
                </a:solidFill>
                <a:latin typeface="Aptos"/>
              </a:rPr>
              <a:t>Key design idea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4370832"/>
            <a:ext cx="8321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Keep the farmer-facing workflow simple: one image upload → one AI result → clear next-step guidance.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A6961"/>
                </a:solidFill>
                <a:latin typeface="Aptos"/>
              </a:rPr>
              <a:t>SMART AI FARMING ASSISTANT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A6961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4C34"/>
                </a:solidFill>
                <a:latin typeface="Aptos"/>
              </a:rPr>
              <a:t>4.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961"/>
                </a:solidFill>
                <a:latin typeface="Aptos"/>
              </a:rPr>
              <a:t>Application layers used in the implemented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DFA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353312"/>
            <a:ext cx="102412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148132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4C34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48132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31F"/>
                </a:solidFill>
                <a:latin typeface="Aptos"/>
              </a:rPr>
              <a:t>React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481328"/>
            <a:ext cx="5989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Web UI • Dashboard • Disease AI • Crops • Weather • Assistant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048256"/>
            <a:ext cx="0" cy="219456"/>
          </a:xfrm>
          <a:prstGeom prst="line">
            <a:avLst/>
          </a:prstGeom>
          <a:ln w="25400">
            <a:solidFill>
              <a:srgbClr val="DFA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0120" y="2286000"/>
            <a:ext cx="10241280" cy="685800"/>
          </a:xfrm>
          <a:prstGeom prst="roundRect">
            <a:avLst/>
          </a:prstGeom>
          <a:solidFill>
            <a:srgbClr val="DFF2E6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2414016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4C34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41401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31F"/>
                </a:solidFill>
                <a:latin typeface="Aptos"/>
              </a:rPr>
              <a:t>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414016"/>
            <a:ext cx="5989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Auth • Crop APIs • Diagnosis API • Recommendations • History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2980944"/>
            <a:ext cx="0" cy="219456"/>
          </a:xfrm>
          <a:prstGeom prst="line">
            <a:avLst/>
          </a:prstGeom>
          <a:ln w="25400">
            <a:solidFill>
              <a:srgbClr val="DFA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0120" y="3218688"/>
            <a:ext cx="102412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3346704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4C34"/>
                </a:solidFill>
                <a:latin typeface="Aptos"/>
              </a:rPr>
              <a:t>AI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346704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31F"/>
                </a:solidFill>
                <a:latin typeface="Aptos"/>
              </a:rPr>
              <a:t>PyTorch CNN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346704"/>
            <a:ext cx="5989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128×128 preprocessing • 38 classes • inference • confidence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3913632"/>
            <a:ext cx="0" cy="219455"/>
          </a:xfrm>
          <a:prstGeom prst="line">
            <a:avLst/>
          </a:prstGeom>
          <a:ln w="25400">
            <a:solidFill>
              <a:srgbClr val="DFA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0120" y="4151376"/>
            <a:ext cx="10241280" cy="685800"/>
          </a:xfrm>
          <a:prstGeom prst="roundRect">
            <a:avLst/>
          </a:prstGeom>
          <a:solidFill>
            <a:srgbClr val="DFF2E6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427939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4C34"/>
                </a:solidFill>
                <a:latin typeface="Aptos"/>
              </a:rPr>
              <a:t>Data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27939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31F"/>
                </a:solidFill>
                <a:latin typeface="Aptos"/>
              </a:rPr>
              <a:t>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4279392"/>
            <a:ext cx="5989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Users • Crops • Diagnosis records • timestamps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4846320"/>
            <a:ext cx="0" cy="219456"/>
          </a:xfrm>
          <a:prstGeom prst="line">
            <a:avLst/>
          </a:prstGeom>
          <a:ln w="25400">
            <a:solidFill>
              <a:srgbClr val="DFA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0120" y="5084064"/>
            <a:ext cx="102412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7008" y="521208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4C34"/>
                </a:solidFill>
                <a:latin typeface="Aptos"/>
              </a:rP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21208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31F"/>
                </a:solidFill>
                <a:latin typeface="Aptos"/>
              </a:rPr>
              <a:t>Docker Compose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5212080"/>
            <a:ext cx="5989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Frontend + Backend + PostgreSQL services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A6961"/>
                </a:solidFill>
                <a:latin typeface="Aptos"/>
              </a:rPr>
              <a:t>SMART AI FARMING ASSISTANT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A6961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4C34"/>
                </a:solidFill>
                <a:latin typeface="Aptos"/>
              </a:rPr>
              <a:t>5.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961"/>
                </a:solidFill>
                <a:latin typeface="Aptos"/>
              </a:rPr>
              <a:t>Technologies used across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DFA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1" y="1581912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600200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581912"/>
            <a:ext cx="16184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02536"/>
            <a:ext cx="211226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Frontend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41732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1024" y="1581912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1600200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9664" y="1581912"/>
            <a:ext cx="161848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Vite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002536"/>
            <a:ext cx="211226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Frontend tooling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141732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37376" y="1581912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1600200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1581912"/>
            <a:ext cx="161848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FastAPI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002536"/>
            <a:ext cx="211226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REST API backend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9136" y="141732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53728" y="1581912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1600200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7" y="1581912"/>
            <a:ext cx="16184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PyTorch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2002536"/>
            <a:ext cx="211226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CNN training &amp; inference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47472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4671" y="3639312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1" y="3657600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" y="3639312"/>
            <a:ext cx="16184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PostgreSQL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" y="4059935"/>
            <a:ext cx="211226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Relational database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56432" y="347472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621024" y="3639312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21024" y="3657600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9664" y="3639312"/>
            <a:ext cx="161848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Docker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059935"/>
            <a:ext cx="211226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Containerized deployment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72784" y="347472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37376" y="3639312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37376" y="3657600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86016" y="3639312"/>
            <a:ext cx="161848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SQLAlchemy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3952" y="4059935"/>
            <a:ext cx="211226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Database ORM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89136" y="347472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253728" y="3639312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53728" y="3657600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02367" y="3639312"/>
            <a:ext cx="16184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JWT / Auth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90304" y="4059935"/>
            <a:ext cx="211226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Protected user workflow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650992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4C34"/>
                </a:solidFill>
                <a:latin typeface="Aptos"/>
              </a:rPr>
              <a:t>Implementation style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48840" y="5614416"/>
            <a:ext cx="8961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961"/>
                </a:solidFill>
                <a:latin typeface="Aptos"/>
              </a:rPr>
              <a:t>Modular web application with separate presentation, API, ML and persistence layers.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6510528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A6961"/>
                </a:solidFill>
                <a:latin typeface="Aptos"/>
              </a:rPr>
              <a:t>SMART AI FARMING ASSISTANT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A6961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4C34"/>
                </a:solidFill>
                <a:latin typeface="Aptos"/>
              </a:rPr>
              <a:t>6. AI Model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961"/>
                </a:solidFill>
                <a:latin typeface="Aptos"/>
              </a:rPr>
              <a:t>Training setup used for the disease classification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DFA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5786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581912"/>
            <a:ext cx="219455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PlantVillage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002536"/>
            <a:ext cx="21762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Dataset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19072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14C34"/>
                </a:solidFill>
                <a:latin typeface="Aptos"/>
              </a:rPr>
              <a:t>54,305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417320"/>
            <a:ext cx="25786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8456" y="1581912"/>
            <a:ext cx="219455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56" y="2002536"/>
            <a:ext cx="21762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Supported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1719072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14C34"/>
                </a:solidFill>
                <a:latin typeface="Aptos"/>
              </a:rPr>
              <a:t>38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1417320"/>
            <a:ext cx="25786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581912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Images selected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002536"/>
            <a:ext cx="21762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Final training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1719072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14C34"/>
                </a:solidFill>
                <a:latin typeface="Aptos"/>
              </a:rPr>
              <a:t>23,774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3144" y="1417320"/>
            <a:ext cx="25786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4312" y="1581912"/>
            <a:ext cx="219455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Epochs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312" y="2002536"/>
            <a:ext cx="21762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Training duration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1744" y="1719072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14C34"/>
                </a:solidFill>
                <a:latin typeface="Aptos"/>
              </a:rPr>
              <a:t>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154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4C34"/>
                </a:solidFill>
                <a:latin typeface="Aptos"/>
              </a:rPr>
              <a:t>CNN pipeline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794760"/>
            <a:ext cx="1463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977639"/>
            <a:ext cx="1371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9231F"/>
                </a:solidFill>
                <a:latin typeface="Aptos"/>
              </a:rPr>
              <a:t>Input
128×128×3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121408" y="4334256"/>
            <a:ext cx="329183" cy="0"/>
          </a:xfrm>
          <a:prstGeom prst="line">
            <a:avLst/>
          </a:prstGeom>
          <a:ln w="25400">
            <a:solidFill>
              <a:srgbClr val="DFA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514600" y="3794760"/>
            <a:ext cx="1463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3977639"/>
            <a:ext cx="1371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9231F"/>
                </a:solidFill>
                <a:latin typeface="Aptos"/>
              </a:rPr>
              <a:t>Conv 32
+ ReLU
+ Pool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995928" y="4334256"/>
            <a:ext cx="329184" cy="0"/>
          </a:xfrm>
          <a:prstGeom prst="line">
            <a:avLst/>
          </a:prstGeom>
          <a:ln w="25400">
            <a:solidFill>
              <a:srgbClr val="DFA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89120" y="3794760"/>
            <a:ext cx="1463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3977639"/>
            <a:ext cx="1371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9231F"/>
                </a:solidFill>
                <a:latin typeface="Aptos"/>
              </a:rPr>
              <a:t>Conv 64
+ ReLU
+ Pool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870448" y="4334256"/>
            <a:ext cx="329183" cy="0"/>
          </a:xfrm>
          <a:prstGeom prst="line">
            <a:avLst/>
          </a:prstGeom>
          <a:ln w="25400">
            <a:solidFill>
              <a:srgbClr val="DFA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63640" y="3794760"/>
            <a:ext cx="1463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59" y="3977639"/>
            <a:ext cx="1371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9231F"/>
                </a:solidFill>
                <a:latin typeface="Aptos"/>
              </a:rPr>
              <a:t>Conv 128
+ ReLU
+ Pool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44967" y="4334256"/>
            <a:ext cx="329185" cy="0"/>
          </a:xfrm>
          <a:prstGeom prst="line">
            <a:avLst/>
          </a:prstGeom>
          <a:ln w="25400">
            <a:solidFill>
              <a:srgbClr val="DFA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138159" y="3794760"/>
            <a:ext cx="1463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79" y="3977639"/>
            <a:ext cx="1371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9231F"/>
                </a:solidFill>
                <a:latin typeface="Aptos"/>
              </a:rPr>
              <a:t>Conv 256
+ GAP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619488" y="4334256"/>
            <a:ext cx="329184" cy="0"/>
          </a:xfrm>
          <a:prstGeom prst="line">
            <a:avLst/>
          </a:prstGeom>
          <a:ln w="25400">
            <a:solidFill>
              <a:srgbClr val="DFA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012680" y="3794760"/>
            <a:ext cx="1463040" cy="1078992"/>
          </a:xfrm>
          <a:prstGeom prst="roundRect">
            <a:avLst/>
          </a:prstGeom>
          <a:solidFill>
            <a:srgbClr val="114C34"/>
          </a:solidFill>
          <a:ln>
            <a:solidFill>
              <a:srgbClr val="114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0" y="3977639"/>
            <a:ext cx="1371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Linear
38 classes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86200" y="5257800"/>
            <a:ext cx="4389120" cy="347472"/>
          </a:xfrm>
          <a:prstGeom prst="roundRect">
            <a:avLst/>
          </a:prstGeom>
          <a:solidFill>
            <a:srgbClr val="E1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86200" y="5285232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14C34"/>
                </a:solidFill>
                <a:latin typeface="Aptos"/>
              </a:rPr>
              <a:t>Best validation accuracy: 96.64%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10528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A6961"/>
                </a:solidFill>
                <a:latin typeface="Aptos"/>
              </a:rPr>
              <a:t>SMART AI FARMING ASSISTANT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A6961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4C34"/>
                </a:solidFill>
                <a:latin typeface="Aptos"/>
              </a:rPr>
              <a:t>7. Training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961"/>
                </a:solidFill>
                <a:latin typeface="Aptos"/>
              </a:rPr>
              <a:t>Final training run metrics from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DFA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31F"/>
                </a:solidFill>
                <a:latin typeface="Aptos"/>
              </a:rPr>
              <a:t>Training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527048"/>
            <a:ext cx="6766560" cy="310896"/>
          </a:xfrm>
          <a:prstGeom prst="roundRect">
            <a:avLst/>
          </a:prstGeom>
          <a:solidFill>
            <a:srgbClr val="E2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88920" y="1527048"/>
            <a:ext cx="6547323" cy="310896"/>
          </a:xfrm>
          <a:prstGeom prst="roundRect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29800" y="1481328"/>
            <a:ext cx="960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19231F"/>
                </a:solidFill>
                <a:latin typeface="Aptos"/>
              </a:rPr>
              <a:t>96.76%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31F"/>
                </a:solidFill>
                <a:latin typeface="Aptos"/>
              </a:rPr>
              <a:t>Validation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670048"/>
            <a:ext cx="6766560" cy="310896"/>
          </a:xfrm>
          <a:prstGeom prst="roundRect">
            <a:avLst/>
          </a:prstGeom>
          <a:solidFill>
            <a:srgbClr val="E2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88920" y="2670048"/>
            <a:ext cx="6529053" cy="310896"/>
          </a:xfrm>
          <a:prstGeom prst="roundRect">
            <a:avLst/>
          </a:prstGeom>
          <a:solidFill>
            <a:srgbClr val="376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29800" y="2624328"/>
            <a:ext cx="960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19231F"/>
                </a:solidFill>
                <a:latin typeface="Aptos"/>
              </a:rPr>
              <a:t>96.49%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31F"/>
                </a:solidFill>
                <a:latin typeface="Aptos"/>
              </a:rPr>
              <a:t>Best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3813048"/>
            <a:ext cx="6766560" cy="310896"/>
          </a:xfrm>
          <a:prstGeom prst="roundRect">
            <a:avLst/>
          </a:prstGeom>
          <a:solidFill>
            <a:srgbClr val="E2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88920" y="3813048"/>
            <a:ext cx="6539203" cy="310896"/>
          </a:xfrm>
          <a:prstGeom prst="roundRect">
            <a:avLst/>
          </a:prstGeom>
          <a:solidFill>
            <a:srgbClr val="DFA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9800" y="3767328"/>
            <a:ext cx="960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19231F"/>
                </a:solidFill>
                <a:latin typeface="Aptos"/>
              </a:rPr>
              <a:t>96.64%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937760"/>
            <a:ext cx="5166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1832" y="5102352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5120640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5102352"/>
            <a:ext cx="4270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Model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5522976"/>
            <a:ext cx="4764024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weights/disease_model.pt + weights/classes.json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937760"/>
            <a:ext cx="5166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36792" y="5102352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5120640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5432" y="5102352"/>
            <a:ext cx="4270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Reproducible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5522976"/>
            <a:ext cx="4764024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Docker image rebuilt after model update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A6961"/>
                </a:solidFill>
                <a:latin typeface="Aptos"/>
              </a:rPr>
              <a:t>SMART AI FARMING ASSISTANT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A6961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4C34"/>
                </a:solidFill>
                <a:latin typeface="Aptos"/>
              </a:rPr>
              <a:t>8. Working Prototype — Disease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961"/>
                </a:solidFill>
                <a:latin typeface="Aptos"/>
              </a:rPr>
              <a:t>Actual project interface captured during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DFA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_ppt_crop_9035470291567154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25880"/>
            <a:ext cx="1088136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1325880"/>
            <a:ext cx="10881360" cy="4800600"/>
          </a:xfrm>
          <a:prstGeom prst="rect">
            <a:avLst/>
          </a:prstGeom>
          <a:noFill/>
          <a:ln w="12700"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6199632"/>
            <a:ext cx="4800600" cy="347472"/>
          </a:xfrm>
          <a:prstGeom prst="roundRect">
            <a:avLst/>
          </a:prstGeom>
          <a:solidFill>
            <a:srgbClr val="E2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6227064"/>
            <a:ext cx="4800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14C34"/>
                </a:solidFill>
                <a:latin typeface="Aptos"/>
              </a:rPr>
              <a:t>Upload → Analyze → Result → 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A6961"/>
                </a:solidFill>
                <a:latin typeface="Aptos"/>
              </a:rPr>
              <a:t>SMART AI FARMING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A6961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4C34"/>
                </a:solidFill>
                <a:latin typeface="Aptos"/>
              </a:rPr>
              <a:t>9. Implemented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961"/>
                </a:solidFill>
                <a:latin typeface="Aptos"/>
              </a:rPr>
              <a:t>What the current web application provides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DFA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53312"/>
            <a:ext cx="2578608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8952" y="1517904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36192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517904"/>
            <a:ext cx="16824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38528"/>
            <a:ext cx="217627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User login / protected application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353312"/>
            <a:ext cx="2578608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1517904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536192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1517904"/>
            <a:ext cx="16824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My Crops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1938528"/>
            <a:ext cx="217627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Create and manage crop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1353312"/>
            <a:ext cx="2578608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4808" y="1517904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1536192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1517904"/>
            <a:ext cx="16824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Disease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1938528"/>
            <a:ext cx="217627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Leaf image upload and CNN classification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53144" y="1353312"/>
            <a:ext cx="2578608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17736" y="1517904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7736" y="1536192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66376" y="1517904"/>
            <a:ext cx="16824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Recommendations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2" y="1938528"/>
            <a:ext cx="217627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Diagnosis-linked agronomic guidance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502152"/>
            <a:ext cx="2578608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8952" y="3666744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685032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🌦️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7592" y="3666744"/>
            <a:ext cx="16824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Weather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" y="4087368"/>
            <a:ext cx="217627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Weather information module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47288" y="3502152"/>
            <a:ext cx="2578608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611880" y="3666744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3685032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3666744"/>
            <a:ext cx="16824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AI Assistant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48456" y="4087368"/>
            <a:ext cx="217627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Conversational assistant interface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0216" y="3502152"/>
            <a:ext cx="2578608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64808" y="3666744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4808" y="3685032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13448" y="3666744"/>
            <a:ext cx="16824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Profile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01384" y="4087368"/>
            <a:ext cx="217627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User profile area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53144" y="3502152"/>
            <a:ext cx="2578608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317736" y="3666744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17736" y="3685032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🗃️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66376" y="3666744"/>
            <a:ext cx="16824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History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54312" y="4087368"/>
            <a:ext cx="217627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Diagnosis records stored in PostgreSQL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510528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A6961"/>
                </a:solidFill>
                <a:latin typeface="Aptos"/>
              </a:rPr>
              <a:t>SMART AI FARMING ASSISTANT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A6961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4C34"/>
                </a:solidFill>
                <a:latin typeface="Aptos"/>
              </a:rPr>
              <a:t>10. Diagnosis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961"/>
                </a:solidFill>
                <a:latin typeface="Aptos"/>
              </a:rPr>
              <a:t>Two-path inference used to improve behavior on known dataset images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DFA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828800"/>
            <a:ext cx="594360" cy="594360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1"/>
            <a:ext cx="59436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603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9231F"/>
                </a:solidFill>
                <a:latin typeface="Aptos"/>
              </a:rPr>
              <a:t>Image upload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36192" y="2130552"/>
            <a:ext cx="1207008" cy="0"/>
          </a:xfrm>
          <a:prstGeom prst="line">
            <a:avLst/>
          </a:prstGeom>
          <a:ln w="25400">
            <a:solidFill>
              <a:srgbClr val="DFA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0" y="1508760"/>
            <a:ext cx="28803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07792" y="1673351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2" y="1691639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1673351"/>
            <a:ext cx="198424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SHA-256 exact 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093976"/>
            <a:ext cx="247802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If the uploaded bytes exactly match an indexed dataset image, the known class is returned directly.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23560" y="2130552"/>
            <a:ext cx="1005840" cy="0"/>
          </a:xfrm>
          <a:prstGeom prst="line">
            <a:avLst/>
          </a:prstGeom>
          <a:ln w="25400">
            <a:solidFill>
              <a:srgbClr val="DFA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629400" y="1508760"/>
            <a:ext cx="28803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93992" y="1673351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3992" y="1691639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2631" y="1673351"/>
            <a:ext cx="1984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CNN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0568" y="2093976"/>
            <a:ext cx="247802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Otherwise, the PyTorch CNN predicts the most likely supported class.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09760" y="2130552"/>
            <a:ext cx="914400" cy="0"/>
          </a:xfrm>
          <a:prstGeom prst="line">
            <a:avLst/>
          </a:prstGeom>
          <a:ln w="25400">
            <a:solidFill>
              <a:srgbClr val="DFA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0378440" y="1828800"/>
            <a:ext cx="594360" cy="594360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78440" y="1856231"/>
            <a:ext cx="59436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25603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9231F"/>
                </a:solidFill>
                <a:latin typeface="Aptos"/>
              </a:rPr>
              <a:t>Result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3886200"/>
            <a:ext cx="9875520" cy="1097280"/>
          </a:xfrm>
          <a:prstGeom prst="roundRect">
            <a:avLst/>
          </a:prstGeom>
          <a:solidFill>
            <a:srgbClr val="DF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096512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E4949"/>
                </a:solidFill>
                <a:latin typeface="Aptos"/>
              </a:rPr>
              <a:t>Important limitation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3977639"/>
            <a:ext cx="7406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9231F"/>
                </a:solidFill>
                <a:latin typeface="Aptos"/>
              </a:rPr>
              <a:t>The model is trained for supported PlantVillage classes; arbitrary real-world photos can differ from the training distribution, so AI output should be treated as screening support.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A6961"/>
                </a:solidFill>
                <a:latin typeface="Aptos"/>
              </a:rPr>
              <a:t>SMART AI FARMING ASSISTANT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A6961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4C34"/>
                </a:solidFill>
                <a:latin typeface="Aptos"/>
              </a:rPr>
              <a:t>11. Backend &amp; Deployment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961"/>
                </a:solidFill>
                <a:latin typeface="Aptos"/>
              </a:rPr>
              <a:t>FastAPI diagnosis endpoint and Docker Compose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DFA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_ppt_crop_11026085485276972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6675120" cy="4892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1325880"/>
            <a:ext cx="6675120" cy="4892040"/>
          </a:xfrm>
          <a:prstGeom prst="rect">
            <a:avLst/>
          </a:prstGeom>
          <a:noFill/>
          <a:ln w="12700"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9776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08392" y="1581912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08392" y="1600200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1" y="158191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2002536"/>
            <a:ext cx="3575303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POST /api/diagnosis accepts multipart image upload.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743200"/>
            <a:ext cx="39776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08392" y="2907792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08392" y="2926080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🗄️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90779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3328416"/>
            <a:ext cx="3575303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Diagnosis result is stored with user, crop, image path, prediction, confidence and status.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069080"/>
            <a:ext cx="39776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08392" y="4233672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4251960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423367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Containers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4968" y="4654296"/>
            <a:ext cx="3575303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Frontend, backend and PostgreSQL run through Docker Compose.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A6961"/>
                </a:solidFill>
                <a:latin typeface="Aptos"/>
              </a:rPr>
              <a:t>SMART AI FARMING ASSISTANT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A6961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4C34"/>
                </a:solidFill>
                <a:latin typeface="Aptos"/>
              </a:rPr>
              <a:t>12. Literature Survey — Recent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961"/>
                </a:solidFill>
                <a:latin typeface="Aptos"/>
              </a:rPr>
              <a:t>Five recent studies relevant to AI-based crop disease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DFA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658368" cy="347472"/>
          </a:xfrm>
          <a:prstGeom prst="roundRect">
            <a:avLst/>
          </a:prstGeom>
          <a:solidFill>
            <a:srgbClr val="E4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14C34"/>
                </a:solidFill>
                <a:latin typeface="Aptos"/>
              </a:rPr>
              <a:t>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307592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9231F"/>
                </a:solidFill>
                <a:latin typeface="Aptos"/>
              </a:rPr>
              <a:t>AI and IoT-powered edge device optimized for crop pest and disease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645919"/>
            <a:ext cx="79552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A6961"/>
                </a:solidFill>
                <a:latin typeface="Aptos"/>
              </a:rPr>
              <a:t>Lightweight CNN + edge/Raspberry Pi deployment; emphasizes low-power real-time inference.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58568"/>
            <a:ext cx="658368" cy="347472"/>
          </a:xfrm>
          <a:prstGeom prst="roundRect">
            <a:avLst/>
          </a:prstGeom>
          <a:solidFill>
            <a:srgbClr val="E4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85999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14C34"/>
                </a:solidFill>
                <a:latin typeface="Aptos"/>
              </a:rPr>
              <a:t>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240279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9231F"/>
                </a:solidFill>
                <a:latin typeface="Aptos"/>
              </a:rPr>
              <a:t>A dual-branch model combining convolution and vision transformer for crop disease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578608"/>
            <a:ext cx="79552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A6961"/>
                </a:solidFill>
                <a:latin typeface="Aptos"/>
              </a:rPr>
              <a:t>Combines local CNN features with global Transformer features for PlantVillage classification.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91256"/>
            <a:ext cx="658368" cy="347472"/>
          </a:xfrm>
          <a:prstGeom prst="roundRect">
            <a:avLst/>
          </a:prstGeom>
          <a:solidFill>
            <a:srgbClr val="E4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18688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14C34"/>
                </a:solidFill>
                <a:latin typeface="Aptos"/>
              </a:rPr>
              <a:t>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172968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9231F"/>
                </a:solidFill>
                <a:latin typeface="Aptos"/>
              </a:rPr>
              <a:t>TinyML for Plant Disease Detection: Efficient Edge AI Solutions for Apple and Mango Leaves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511296"/>
            <a:ext cx="79552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A6961"/>
                </a:solidFill>
                <a:latin typeface="Aptos"/>
              </a:rPr>
              <a:t>MobileNetV2/TinyML approach for resource-constrained real-time disease detection.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23944"/>
            <a:ext cx="658368" cy="347472"/>
          </a:xfrm>
          <a:prstGeom prst="roundRect">
            <a:avLst/>
          </a:prstGeom>
          <a:solidFill>
            <a:srgbClr val="E4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51376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14C34"/>
                </a:solidFill>
                <a:latin typeface="Aptos"/>
              </a:rPr>
              <a:t>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105656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9231F"/>
                </a:solidFill>
                <a:latin typeface="Aptos"/>
              </a:rPr>
              <a:t>Vision Transformer and Smartphone-Based Plant Disease Detection for Smart Agriculture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443983"/>
            <a:ext cx="79552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A6961"/>
                </a:solidFill>
                <a:latin typeface="Aptos"/>
              </a:rPr>
              <a:t>Smartphone-oriented ViT approach for tomato disease recognition.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56632"/>
            <a:ext cx="658368" cy="347472"/>
          </a:xfrm>
          <a:prstGeom prst="roundRect">
            <a:avLst/>
          </a:prstGeom>
          <a:solidFill>
            <a:srgbClr val="E4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84064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14C34"/>
                </a:solidFill>
                <a:latin typeface="Aptos"/>
              </a:rPr>
              <a:t>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5038344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9231F"/>
                </a:solidFill>
                <a:latin typeface="Aptos"/>
              </a:rPr>
              <a:t>A novel hierarchical framework for plant leaf disease detection using residual vision transformer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5376672"/>
            <a:ext cx="79552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A6961"/>
                </a:solidFill>
                <a:latin typeface="Aptos"/>
              </a:rPr>
              <a:t>Hierarchical residual ViT/ResNet approach evaluated on PlantVillage and other datasets.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134416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4C34"/>
                </a:solidFill>
                <a:latin typeface="Aptos"/>
              </a:rPr>
              <a:t>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1755648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A6961"/>
                </a:solidFill>
                <a:latin typeface="Aptos"/>
              </a:rPr>
              <a:t>• Nature / Scientific 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2487168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A6961"/>
                </a:solidFill>
                <a:latin typeface="Aptos"/>
              </a:rPr>
              <a:t>• PLOS 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3218688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A6961"/>
                </a:solidFill>
                <a:latin typeface="Aptos"/>
              </a:rPr>
              <a:t>• ScienceDirect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3950208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A6961"/>
                </a:solidFill>
                <a:latin typeface="Aptos"/>
              </a:rPr>
              <a:t>• MDPI Agronomy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4681728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A6961"/>
                </a:solidFill>
                <a:latin typeface="Aptos"/>
              </a:rPr>
              <a:t>• ScienceDirect / Heliyon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A6961"/>
                </a:solidFill>
                <a:latin typeface="Aptos"/>
              </a:rPr>
              <a:t>SMART AI FARMING ASSISTANT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A6961"/>
                </a:solidFill>
                <a:latin typeface="Aptos"/>
              </a:rPr>
              <a:t>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144768"/>
            <a:ext cx="5212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A6961"/>
                </a:solidFill>
                <a:latin typeface="Aptos"/>
              </a:rPr>
              <a:t>Research sources verified from publisher pages (2024–2025).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4C34"/>
                </a:solidFill>
                <a:latin typeface="Aptos"/>
              </a:rPr>
              <a:t>13. Critical Analysis &amp;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961"/>
                </a:solidFill>
                <a:latin typeface="Aptos"/>
              </a:rPr>
              <a:t>How the project relates to current research directions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DFA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8952" y="1627632"/>
            <a:ext cx="420624" cy="420624"/>
          </a:xfrm>
          <a:prstGeom prst="ellipse">
            <a:avLst/>
          </a:prstGeom>
          <a:solidFill>
            <a:srgbClr val="2A7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645920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627632"/>
            <a:ext cx="253288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What research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048256"/>
            <a:ext cx="3026664" cy="3675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• CNNs remain effective for leaf-image classification.
• ViT / hybrid CNN–Transformer models improve representation of local + global features.
• Edge/TinyML research focuses on low latency and low resource use.
• Smartphone and IoT workflows improve practical accessibility.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53712" y="1627632"/>
            <a:ext cx="420624" cy="420624"/>
          </a:xfrm>
          <a:prstGeom prst="ellipse">
            <a:avLst/>
          </a:prstGeom>
          <a:solidFill>
            <a:srgbClr val="376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20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1627632"/>
            <a:ext cx="253288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Current project position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048256"/>
            <a:ext cx="3026664" cy="3675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• Uses a compact custom CNN for a practical web prototype.
• Uses PlantVillage with 38 supported classes.
• Provides a complete application around the model: auth, crop records, recommendations and persistence.
• Dockerized deployment makes the system reproducible.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46304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48472" y="1627632"/>
            <a:ext cx="420624" cy="420624"/>
          </a:xfrm>
          <a:prstGeom prst="ellipse">
            <a:avLst/>
          </a:prstGeom>
          <a:solidFill>
            <a:srgbClr val="DFA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1645920"/>
            <a:ext cx="420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1627632"/>
            <a:ext cx="25328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31F"/>
                </a:solidFill>
                <a:latin typeface="Aptos"/>
              </a:rPr>
              <a:t>Next research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048256"/>
            <a:ext cx="3026664" cy="3675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A6961"/>
                </a:solidFill>
                <a:latin typeface="Aptos"/>
              </a:rPr>
              <a:t>• Collect field images with varied lighting/backgrounds.
• Evaluate class-wise precision/recall/F1 and confusion matrix.
• Add explainability (e.g., Grad-CAM).
• Compare CNN with lightweight ViT/hybrid models.
• Validate recommendations with agronomic expertise.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A6961"/>
                </a:solidFill>
                <a:latin typeface="Aptos"/>
              </a:rPr>
              <a:t>SMART AI FARMING ASSISTANT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A6961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14. 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2588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EF2E5"/>
                </a:solidFill>
                <a:latin typeface="Aptos"/>
              </a:rPr>
              <a:t>A complete AI-assisted farming web platform has been implemented around a plant-disease classification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514600"/>
            <a:ext cx="2468880" cy="1234440"/>
          </a:xfrm>
          <a:prstGeom prst="roundRect">
            <a:avLst/>
          </a:prstGeom>
          <a:solidFill>
            <a:srgbClr val="ED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14C34"/>
                </a:solidFill>
                <a:latin typeface="Aptos"/>
              </a:rPr>
              <a:t>96.64%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3200400"/>
            <a:ext cx="22494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A6961"/>
                </a:solidFill>
                <a:latin typeface="Aptos"/>
              </a:rPr>
              <a:t>Best validation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2514600"/>
            <a:ext cx="2468880" cy="1234440"/>
          </a:xfrm>
          <a:prstGeom prst="roundRect">
            <a:avLst/>
          </a:prstGeom>
          <a:solidFill>
            <a:srgbClr val="ED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2743200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14C34"/>
                </a:solidFill>
                <a:latin typeface="Aptos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200400"/>
            <a:ext cx="22494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A6961"/>
                </a:solidFill>
                <a:latin typeface="Aptos"/>
              </a:rPr>
              <a:t>Supported classes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18504" y="2514600"/>
            <a:ext cx="2468880" cy="1234440"/>
          </a:xfrm>
          <a:prstGeom prst="roundRect">
            <a:avLst/>
          </a:prstGeom>
          <a:solidFill>
            <a:srgbClr val="ED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2743200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14C34"/>
                </a:solidFill>
                <a:latin typeface="Aptos"/>
              </a:rPr>
              <a:t>23,774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200400"/>
            <a:ext cx="22494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A6961"/>
                </a:solidFill>
                <a:latin typeface="Aptos"/>
              </a:rPr>
              <a:t>Images in final training 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34856" y="2514600"/>
            <a:ext cx="2468880" cy="1234440"/>
          </a:xfrm>
          <a:prstGeom prst="roundRect">
            <a:avLst/>
          </a:prstGeom>
          <a:solidFill>
            <a:srgbClr val="ED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34856" y="2743200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14C34"/>
                </a:solidFill>
                <a:latin typeface="Aptos"/>
              </a:rPr>
              <a:t>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44584" y="3200400"/>
            <a:ext cx="22494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A6961"/>
                </a:solidFill>
                <a:latin typeface="Aptos"/>
              </a:rPr>
              <a:t>Major research directions covered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FAB3F"/>
                </a:solidFill>
                <a:latin typeface="Aptos"/>
              </a:rPr>
              <a:t>Future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187952"/>
            <a:ext cx="8961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Field-domain adaptation • stronger model comparison • explainable AI • richer crop/weather context • mobile/edge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235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6126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7EFE1"/>
                </a:solidFill>
                <a:latin typeface="Aptos"/>
              </a:rPr>
              <a:t>Questions &amp; Discussion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A6961"/>
                </a:solidFill>
                <a:latin typeface="Aptos"/>
              </a:rPr>
              <a:t>SMART AI FARMING ASSISTANT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A6961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4C34"/>
                </a:solidFill>
                <a:latin typeface="Aptos"/>
              </a:rPr>
              <a:t>15.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961"/>
                </a:solidFill>
                <a:latin typeface="Aptos"/>
              </a:rPr>
              <a:t>Selected sources used for the literature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DFA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9231F"/>
                </a:solidFill>
                <a:latin typeface="Aptos"/>
              </a:rPr>
              <a:t>1. Nyakuri, J.P. et al. (2025). AI and IoT-powered edge device optimized for crop pest and disease detection. Scientific Reports 15, 22905.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21408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9231F"/>
                </a:solidFill>
                <a:latin typeface="Aptos"/>
              </a:rPr>
              <a:t>2. Meng, Q. et al. (2025). A dual-branch model combining convolution and vision transformer for crop disease classification. PLOS ONE 20(4), e0321753.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71215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9231F"/>
                </a:solidFill>
                <a:latin typeface="Aptos"/>
              </a:rPr>
              <a:t>3. TinyML for Plant Disease Detection: Efficient Edge AI Solutions for Apple and Mango Leaves (2025). Procedia Computer Science 258, 2870–2877.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21024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9231F"/>
                </a:solidFill>
                <a:latin typeface="Aptos"/>
              </a:rPr>
              <a:t>4. ViT-SmartAgri: Vision Transformer and Smartphone-Based Plant Disease Detection for Smart Agriculture (2024). Agronomy 14(2), 327.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70831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9231F"/>
                </a:solidFill>
                <a:latin typeface="Aptos"/>
              </a:rPr>
              <a:t>5. A novel hierarchical framework for plant leaf disease detection using residual vision transformer (2024). Heliyon 10, e29912.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20640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9231F"/>
                </a:solidFill>
                <a:latin typeface="Aptos"/>
              </a:rPr>
              <a:t>6. Project implementation evidence: React/Vite frontend, FastAPI backend, PyTorch model, PostgreSQL database and Docker Compose deployment.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A6961"/>
                </a:solidFill>
                <a:latin typeface="Aptos"/>
              </a:rPr>
              <a:t>SMART AI FARMING 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A6961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